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基础推理</c:v>
                </c:pt>
              </c:strCache>
            </c:strRef>
          </c:tx>
          <c:spPr>
            <a:solidFill>
              <a:srgbClr val="0071E3"/>
            </a:solidFill>
          </c:spPr>
          <c:dLbls>
            <c:txPr>
              <a:bodyPr/>
              <a:lstStyle/>
              <a:p>
                <a:pPr>
                  <a:defRPr sz="900"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1x1</c:v>
                </c:pt>
                <c:pt idx="1">
                  <c:v>1x2</c:v>
                </c:pt>
                <c:pt idx="2">
                  <c:v>1x3</c:v>
                </c:pt>
                <c:pt idx="3">
                  <c:v>1x4</c:v>
                </c:pt>
                <c:pt idx="4">
                  <c:v>2x2</c:v>
                </c:pt>
                <c:pt idx="5">
                  <c:v>2x3</c:v>
                </c:pt>
                <c:pt idx="6">
                  <c:v>2x4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80.0</c:v>
                </c:pt>
                <c:pt idx="1">
                  <c:v>83.3</c:v>
                </c:pt>
                <c:pt idx="2">
                  <c:v>100.0</c:v>
                </c:pt>
                <c:pt idx="3">
                  <c:v>83.3</c:v>
                </c:pt>
                <c:pt idx="4">
                  <c:v>100.0</c:v>
                </c:pt>
                <c:pt idx="5">
                  <c:v>80.0</c:v>
                </c:pt>
                <c:pt idx="6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抗阴影双路融合</c:v>
                </c:pt>
              </c:strCache>
            </c:strRef>
          </c:tx>
          <c:spPr>
            <a:solidFill>
              <a:srgbClr val="34C759"/>
            </a:solidFill>
          </c:spPr>
          <c:dLbls>
            <c:txPr>
              <a:bodyPr/>
              <a:lstStyle/>
              <a:p>
                <a:pPr>
                  <a:defRPr sz="900"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1x1</c:v>
                </c:pt>
                <c:pt idx="1">
                  <c:v>1x2</c:v>
                </c:pt>
                <c:pt idx="2">
                  <c:v>1x3</c:v>
                </c:pt>
                <c:pt idx="3">
                  <c:v>1x4</c:v>
                </c:pt>
                <c:pt idx="4">
                  <c:v>2x2</c:v>
                </c:pt>
                <c:pt idx="5">
                  <c:v>2x3</c:v>
                </c:pt>
                <c:pt idx="6">
                  <c:v>2x4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80.0</c:v>
                </c:pt>
                <c:pt idx="1">
                  <c:v>83.3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6"/>
            </a:solidFill>
          </a:ln>
        </c:spPr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0E0E6"/>
            </a:solidFill>
          </a:ln>
        </c:spPr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6766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E3"/>
                </a:solidFill>
                <a:latin typeface="Microsoft YaHei"/>
              </a:rPr>
              <a:t>人工智能应用实践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D1D1F"/>
                </a:solidFill>
                <a:latin typeface="Microsoft YaHei"/>
              </a:rPr>
              <a:t>乐高积木图像识别项目</a:t>
            </a:r>
            <a:br/>
            <a:r>
              <a:t>成果展示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Microsoft YaHei"/>
              </a:rPr>
              <a:t>基于 PyTorch + Streamlit + Plotly，完成从数据准备、CNN 训练到网页部署与鲁棒性优化的完整链路。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37560"/>
            <a:ext cx="1097280" cy="310896"/>
          </a:xfrm>
          <a:prstGeom prst="roundRect">
            <a:avLst/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71E3"/>
                </a:solidFill>
                <a:latin typeface="Microsoft YaHei"/>
              </a:rPr>
              <a:t>PyTorch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3337560"/>
            <a:ext cx="1097280" cy="310896"/>
          </a:xfrm>
          <a:prstGeom prst="roundRect">
            <a:avLst/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71E3"/>
                </a:solidFill>
                <a:latin typeface="Microsoft YaHei"/>
              </a:rPr>
              <a:t>Streamlit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337560"/>
            <a:ext cx="914400" cy="310896"/>
          </a:xfrm>
          <a:prstGeom prst="roundRect">
            <a:avLst/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71E3"/>
                </a:solidFill>
                <a:latin typeface="Microsoft YaHei"/>
              </a:rPr>
              <a:t>Plotly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337560"/>
            <a:ext cx="1005840" cy="310896"/>
          </a:xfrm>
          <a:prstGeom prst="roundRect">
            <a:avLst/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71E3"/>
                </a:solidFill>
                <a:latin typeface="Microsoft YaHei"/>
              </a:rPr>
              <a:t>GPU 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Microsoft YaHei"/>
              </a:rPr>
              <a:t>汇报主题：课程阶段成果展示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ptos"/>
              </a:rPr>
              <a:t>日期：2026-04-22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96012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7" y="1106424"/>
            <a:ext cx="1243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基础复核准确率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7" y="1371600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71E3"/>
                </a:solidFill>
                <a:latin typeface="Microsoft YaHei"/>
              </a:rPr>
              <a:t>87.5%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96012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106424"/>
            <a:ext cx="1243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优化后准确率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1371600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C759"/>
                </a:solidFill>
                <a:latin typeface="Microsoft YaHei"/>
              </a:rPr>
              <a:t>93.75%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33172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7" y="2478024"/>
            <a:ext cx="1243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识别类别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7" y="2743200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9F0A"/>
                </a:solidFill>
                <a:latin typeface="Microsoft YaHei"/>
              </a:rPr>
              <a:t>7 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233172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6648" y="2478024"/>
            <a:ext cx="1243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当前测试集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2743200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453A"/>
                </a:solidFill>
                <a:latin typeface="Microsoft YaHei"/>
              </a:rPr>
              <a:t>32 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3703320"/>
            <a:ext cx="3474720" cy="146304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391363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E3"/>
                </a:solidFill>
                <a:latin typeface="Microsoft YaHei"/>
              </a:rPr>
              <a:t>成果关键词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4233672"/>
            <a:ext cx="2926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4 层 CNN、Top-K 概率图、多页面应用、拍照识别、抗阴影双路融合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项目背景与目标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围绕课程实验要求，构建一个可运行、可展示、可优化的乐高积木图像识别系统。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035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500">
                <a:solidFill>
                  <a:srgbClr val="1D1D1F"/>
                </a:solidFill>
                <a:latin typeface="Microsoft YaHei"/>
              </a:rPr>
              <a:t>识别对象为 7 类常见 Brick 零件，兼顾网络图片与实拍图片场景。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1D1F"/>
                </a:solidFill>
                <a:latin typeface="Microsoft YaHei"/>
              </a:rPr>
              <a:t>目标不是只做离线训练，而是完成从数据准备、模型训练到 Web 应用部署的完整闭环。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1D1F"/>
                </a:solidFill>
                <a:latin typeface="Microsoft YaHei"/>
              </a:rPr>
              <a:t>在最终展示阶段，重点关注模型可解释性、交互体验和实拍鲁棒性。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Microsoft YaHei"/>
              </a:rPr>
              <a:t>项目背景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0823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目标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13431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搭建 Streamlit 多页面应用，形成清晰的数据应用界面。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874519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020823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目标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13431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完成模型加载、预处理、前向推理、Softmax 与结果解析。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0390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目标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96512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使用 Plotly 展示概率分布，提高结果可读性和专业感。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36576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80390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目标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096512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针对实拍阴影问题做鲁棒性优化，提升落地效果。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Microsoft YaHei"/>
              </a:rPr>
              <a:t>实验环境：Python、PyTorch、Streamlit、Plotly、Pillow、Trae IDE、浏览器、GPU 训练环境。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总体技术路线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按照“数据准备 -&gt; 模型训练 -&gt; 应用开发与优化”三阶段推进，逐步完成课程成果。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2743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" y="2084831"/>
            <a:ext cx="868680" cy="292608"/>
          </a:xfrm>
          <a:prstGeom prst="roundRect">
            <a:avLst/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71E3"/>
                </a:solidFill>
                <a:latin typeface="Microsoft YaHei"/>
              </a:rPr>
              <a:t>阶段一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50592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Microsoft YaHei"/>
              </a:rPr>
              <a:t>项目规划与数据准备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90779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• 目录与环境初始化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41985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• 样本清洗、命名与尺寸统一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31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• 类别整理与数据划分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3520440"/>
            <a:ext cx="457200" cy="0"/>
          </a:xfrm>
          <a:prstGeom prst="line">
            <a:avLst/>
          </a:prstGeom>
          <a:ln w="3175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0520" y="1920240"/>
            <a:ext cx="2743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1688" y="2084831"/>
            <a:ext cx="868680" cy="292608"/>
          </a:xfrm>
          <a:prstGeom prst="roundRect">
            <a:avLst/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71E3"/>
                </a:solidFill>
                <a:latin typeface="Microsoft YaHei"/>
              </a:rPr>
              <a:t>阶段二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450592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Microsoft YaHei"/>
              </a:rPr>
              <a:t>模型设计与训练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90779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• CNN 模型搭建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41985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• 超参数对比实验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931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• 最佳权重保存与复核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49440" y="3520440"/>
            <a:ext cx="457200" cy="0"/>
          </a:xfrm>
          <a:prstGeom prst="line">
            <a:avLst/>
          </a:prstGeom>
          <a:ln w="3175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43800" y="1920240"/>
            <a:ext cx="2743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44968" y="2084831"/>
            <a:ext cx="868680" cy="292608"/>
          </a:xfrm>
          <a:prstGeom prst="roundRect">
            <a:avLst/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71E3"/>
                </a:solidFill>
                <a:latin typeface="Microsoft YaHei"/>
              </a:rPr>
              <a:t>阶段三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450592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Microsoft YaHei"/>
              </a:rPr>
              <a:t>应用开发与优化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2" y="290779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• Streamlit 多页面应用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2" y="341985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• Plotly 概率可视化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2" y="3931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Microsoft YaHei"/>
              </a:rPr>
              <a:t>• 抗阴影双路融合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Microsoft YaHei"/>
              </a:rPr>
              <a:t>最终形成了“可训练、可验证、可部署、可展示”的课程项目成果。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数据集构建与识别任务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以 7 类 Brick 识别任务为核心，并在项目后期对弱类和实拍样本继续补充整理。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4864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ample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754376"/>
            <a:ext cx="5074920" cy="2217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1828800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Microsoft YaHei"/>
              </a:rPr>
              <a:t>关键数据规模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295144"/>
            <a:ext cx="11064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基础整理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560320"/>
            <a:ext cx="11064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71E3"/>
                </a:solidFill>
                <a:latin typeface="Microsoft YaHei"/>
              </a:rPr>
              <a:t>213 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14884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295144"/>
            <a:ext cx="11064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当前训练划分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560320"/>
            <a:ext cx="11064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C759"/>
                </a:solidFill>
                <a:latin typeface="Microsoft YaHei"/>
              </a:rPr>
              <a:t>230 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14884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9528" y="2295144"/>
            <a:ext cx="11064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测试集复核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9528" y="2560320"/>
            <a:ext cx="11064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9F0A"/>
                </a:solidFill>
                <a:latin typeface="Microsoft YaHei"/>
              </a:rPr>
              <a:t>32 张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0" y="3337560"/>
          <a:ext cx="48463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28003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1E3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E9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1E3"/>
                          </a:solidFill>
                          <a:latin typeface="Microsoft YaHei"/>
                        </a:rPr>
                        <a:t>当前样本数</a:t>
                      </a:r>
                    </a:p>
                  </a:txBody>
                  <a:tcPr>
                    <a:solidFill>
                      <a:srgbClr val="E9F4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Microsoft YaHei"/>
                        </a:rPr>
                        <a:t>1x1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Aptos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Microsoft YaHei"/>
                        </a:rPr>
                        <a:t>1x2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Aptos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Microsoft YaHei"/>
                        </a:rPr>
                        <a:t>1x3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Microsoft YaHei"/>
                        </a:rPr>
                        <a:t>1x4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Microsoft YaHei"/>
                        </a:rPr>
                        <a:t>2x2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Aptos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Microsoft YaHei"/>
                        </a:rPr>
                        <a:t>2x3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Aptos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Microsoft YaHei"/>
                        </a:rPr>
                        <a:t>2x4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1D1F"/>
                          </a:solidFill>
                          <a:latin typeface="Aptos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57150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Microsoft YaHei"/>
              </a:rPr>
              <a:t>说明：基础样本先整理为 213 张，后续针对弱类与实拍场景继续补充，形成当前训练划分。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CNN 模型结构设计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主力模型采用 4 层卷积池化循环的 baseline CNN，并配合全局平均池化与全连接输出层。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624328"/>
            <a:ext cx="10881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输入</a:t>
            </a:r>
            <a:br/>
            <a:r>
              <a:t>128×128×3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47672" y="2944368"/>
            <a:ext cx="109728" cy="0"/>
          </a:xfrm>
          <a:prstGeom prst="line">
            <a:avLst/>
          </a:prstGeom>
          <a:ln w="2794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12264" y="2331720"/>
            <a:ext cx="1234440" cy="123444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5416" y="2624328"/>
            <a:ext cx="10881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Conv-BN-ReLU-Pool</a:t>
            </a:r>
            <a:br/>
            <a:r>
              <a:t>48 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46704" y="2944368"/>
            <a:ext cx="109728" cy="0"/>
          </a:xfrm>
          <a:prstGeom prst="line">
            <a:avLst/>
          </a:prstGeom>
          <a:ln w="2794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11296" y="2331720"/>
            <a:ext cx="1234440" cy="123444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624328"/>
            <a:ext cx="10881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Conv-BN-ReLU-Pool</a:t>
            </a:r>
            <a:br/>
            <a:r>
              <a:t>96 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45736" y="2944368"/>
            <a:ext cx="109728" cy="0"/>
          </a:xfrm>
          <a:prstGeom prst="line">
            <a:avLst/>
          </a:prstGeom>
          <a:ln w="2794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10328" y="2331720"/>
            <a:ext cx="1234440" cy="123444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624328"/>
            <a:ext cx="10881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Conv-BN-ReLU-Pool</a:t>
            </a:r>
            <a:br/>
            <a:r>
              <a:t>192 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44768" y="2944368"/>
            <a:ext cx="109728" cy="0"/>
          </a:xfrm>
          <a:prstGeom prst="line">
            <a:avLst/>
          </a:prstGeom>
          <a:ln w="2794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09360" y="2331720"/>
            <a:ext cx="1234440" cy="123444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624328"/>
            <a:ext cx="10881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Conv-BN-ReLU-Pool</a:t>
            </a:r>
            <a:br/>
            <a:r>
              <a:t>384 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43800" y="2944368"/>
            <a:ext cx="109728" cy="0"/>
          </a:xfrm>
          <a:prstGeom prst="line">
            <a:avLst/>
          </a:prstGeom>
          <a:ln w="2794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08392" y="233172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1544" y="2624328"/>
            <a:ext cx="10881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GAP</a:t>
            </a:r>
            <a:br/>
            <a:r>
              <a:t>1×1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42832" y="2944368"/>
            <a:ext cx="109728" cy="0"/>
          </a:xfrm>
          <a:prstGeom prst="line">
            <a:avLst/>
          </a:prstGeom>
          <a:ln w="2794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07424" y="233172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2624328"/>
            <a:ext cx="10881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Dropout + FC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341864" y="2944368"/>
            <a:ext cx="109728" cy="0"/>
          </a:xfrm>
          <a:prstGeom prst="line">
            <a:avLst/>
          </a:prstGeom>
          <a:ln w="2794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506456" y="233172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79608" y="2624328"/>
            <a:ext cx="10881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7 类输出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06908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27939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Microsoft YaHei"/>
              </a:rPr>
              <a:t>最终配置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617720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ptos"/>
              </a:rPr>
              <a:t>image_size=128  batch_size=8  lr=0.0005  depth=4  base_channels=48  dropout=0.0  auto_crop=True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06908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2793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Microsoft YaHei"/>
              </a:rPr>
              <a:t>模型要点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590288"/>
            <a:ext cx="45720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参数量约 87.6 万；输出维度 7 类。</a:t>
            </a:r>
            <a:br/>
            <a:r>
              <a:t>结构简洁、训练稳定，更适合当前中小规模课程数据集。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超参数实验与模型选择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通过多组对比实验筛选更稳定的配置，最终收敛到适合本数据规模的 4 层 baseline CNN。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486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5193792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ummary_tes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25980"/>
            <a:ext cx="5029200" cy="2514600"/>
          </a:xfrm>
          <a:prstGeom prst="rect">
            <a:avLst/>
          </a:prstGeom>
        </p:spPr>
      </p:pic>
      <p:pic>
        <p:nvPicPr>
          <p:cNvPr id="11" name="Picture 10" descr="summary_test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94560"/>
            <a:ext cx="4754880" cy="2377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5303520"/>
            <a:ext cx="10908792" cy="86868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321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1E3"/>
                </a:solidFill>
                <a:latin typeface="Microsoft YaHei"/>
              </a:rPr>
              <a:t>结论：depth=4、base_channels=48 的结构在当前对比组中表现最好；batch_size=8 最稳；dropout=0.0 更适合当前数据规模。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主力模型结果与训练过程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在原始测试集复核中，主力 v6 模型达到 87.5% 准确率，并呈现较稳定的训练收敛过程。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29384"/>
            <a:ext cx="15636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原始测试集复核准确率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94560"/>
            <a:ext cx="15636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71E3"/>
                </a:solidFill>
                <a:latin typeface="Microsoft YaHei"/>
              </a:rPr>
              <a:t>87.5%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78308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1929384"/>
            <a:ext cx="15636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测试集样本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194560"/>
            <a:ext cx="15636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9F0A"/>
                </a:solidFill>
                <a:latin typeface="Microsoft YaHei"/>
              </a:rPr>
              <a:t>32 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78308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1929384"/>
            <a:ext cx="15636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模型参数量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2194560"/>
            <a:ext cx="15636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C759"/>
                </a:solidFill>
                <a:latin typeface="Microsoft YaHei"/>
              </a:rPr>
              <a:t>87.6 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4032" y="1783080"/>
            <a:ext cx="4434840" cy="114300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1993392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Microsoft YaHei"/>
              </a:rPr>
              <a:t>Top1 预测能较好区分 1x1、1x2、1x4、2x2、2x4 等类别，难点主要集中在外形相近和受阴影影响的实拍样本。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54406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3200400"/>
            <a:ext cx="51663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istory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228" y="3474720"/>
            <a:ext cx="3072384" cy="1920240"/>
          </a:xfrm>
          <a:prstGeom prst="rect">
            <a:avLst/>
          </a:prstGeom>
        </p:spPr>
      </p:pic>
      <p:pic>
        <p:nvPicPr>
          <p:cNvPr id="22" name="Picture 21" descr="history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474720"/>
            <a:ext cx="3072384" cy="19202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Streamlit 应用功能展示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应用侧完成了多页面导航、上传识别、拍照识别、Plotly 图表和识别历史等完整体验。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004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3969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1D1F"/>
                </a:solidFill>
                <a:latin typeface="Aptos"/>
              </a:rPr>
              <a:t>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42032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"/>
              </a:rPr>
              <a:t>上传图片、摄像头拍照、Top-K 概率、识别历史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74519"/>
            <a:ext cx="32004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7" y="213969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1D1F"/>
                </a:solidFill>
                <a:latin typeface="Aptos"/>
              </a:rPr>
              <a:t>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542032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"/>
              </a:rPr>
              <a:t>动态读取示例图片，一键识别并展示概率分布图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74519"/>
            <a:ext cx="32004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7" y="213969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1D1F"/>
                </a:solidFill>
                <a:latin typeface="Aptos"/>
              </a:rPr>
              <a:t>About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7" y="2542032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Microsoft YaHei"/>
              </a:rPr>
              <a:t>汇总三阶段成果、运行方式与关键说明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3108960" cy="132588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31596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1E3"/>
                </a:solidFill>
                <a:latin typeface="Microsoft YaHei"/>
              </a:rPr>
              <a:t>界面能力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59943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Microsoft YaHei"/>
              </a:rPr>
              <a:t>浅色 CSS 美化、双栏布局、空状态提示与异常处理。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4069080"/>
            <a:ext cx="3108960" cy="132588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431596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1E3"/>
                </a:solidFill>
                <a:latin typeface="Microsoft YaHei"/>
              </a:rPr>
              <a:t>课堂展示能力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459943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Microsoft YaHei"/>
              </a:rPr>
              <a:t>支持现场拍照识别，结果可视化清晰，适合演示。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4069080"/>
            <a:ext cx="3977639" cy="132588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31596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1E3"/>
                </a:solidFill>
                <a:latin typeface="Microsoft YaHei"/>
              </a:rPr>
              <a:t>结果输出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459943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Microsoft YaHei"/>
              </a:rPr>
              <a:t>预测类别、置信度、Plotly 概率图、识别历史统一在前端展示。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INFERENCE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端到端推理链路与可视化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将训练好的模型嵌入 Web 应用后，形成清晰的端到端图片识别流程。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26187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615184"/>
            <a:ext cx="1115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上传 / 拍照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2834640"/>
            <a:ext cx="256032" cy="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50008" y="2331720"/>
            <a:ext cx="1261872" cy="100584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615184"/>
            <a:ext cx="1115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图片预处理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11880" y="2834640"/>
            <a:ext cx="256032" cy="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68496" y="2331720"/>
            <a:ext cx="126187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8" y="2615184"/>
            <a:ext cx="1115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模型加载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30368" y="2834640"/>
            <a:ext cx="256032" cy="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86984" y="2331720"/>
            <a:ext cx="126187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0136" y="2615184"/>
            <a:ext cx="1115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前向推理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48856" y="2834640"/>
            <a:ext cx="256032" cy="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05472" y="2331720"/>
            <a:ext cx="1261872" cy="100584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2615184"/>
            <a:ext cx="1115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Softmax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67344" y="2834640"/>
            <a:ext cx="256032" cy="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823960" y="2331720"/>
            <a:ext cx="126187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2615184"/>
            <a:ext cx="1115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结果解析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85832" y="2834640"/>
            <a:ext cx="256032" cy="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42448" y="2331720"/>
            <a:ext cx="1261872" cy="100584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2615184"/>
            <a:ext cx="1115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1D1F"/>
                </a:solidFill>
                <a:latin typeface="Microsoft YaHei"/>
              </a:rPr>
              <a:t>Plotly 概率图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977639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224528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Microsoft YaHei"/>
              </a:rPr>
              <a:t>工程实现要点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53712"/>
            <a:ext cx="43891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将模型推理、图片读取、Top-K 结果组织和前端渲染拆分成独立模块，便于维护和后续替换模型。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3977639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224528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Microsoft YaHei"/>
              </a:rPr>
              <a:t>健壮性处理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553712"/>
            <a:ext cx="46634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加入文件格式校验、空状态提示、异常捕获和识别历史记录，保证应用在课堂演示时更稳定。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实拍阴影鲁棒性优化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针对实拍图片中常见的阴影、背景和光照变化问题，引入抗阴影双路融合策略。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20116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2148840"/>
            <a:ext cx="20116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3720" y="2148840"/>
            <a:ext cx="2011680" cy="219456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2148840"/>
            <a:ext cx="1691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1D1F"/>
                </a:solidFill>
                <a:latin typeface="Microsoft YaHei"/>
              </a:rPr>
              <a:t>原图推理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E6E73"/>
                </a:solidFill>
                <a:latin typeface="Microsoft YaHei"/>
              </a:rPr>
              <a:t>保留原始纹理与颜色信息。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48716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1D1F"/>
                </a:solidFill>
                <a:latin typeface="Microsoft YaHei"/>
              </a:rPr>
              <a:t>抗阴影预处理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06324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E6E73"/>
                </a:solidFill>
                <a:latin typeface="Microsoft YaHei"/>
              </a:rPr>
              <a:t>削弱阴影和局部亮度差异。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48716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71E3"/>
                </a:solidFill>
                <a:latin typeface="Microsoft YaHei"/>
              </a:rPr>
              <a:t>50 / 50 融合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306324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D1D1F"/>
                </a:solidFill>
                <a:latin typeface="Microsoft YaHei"/>
              </a:rPr>
              <a:t>综合两路预测得分，提高稳定性。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2487168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1D1F"/>
                </a:solidFill>
                <a:latin typeface="Microsoft YaHei"/>
              </a:rPr>
              <a:t>最终结果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3063240"/>
            <a:ext cx="1325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E6E73"/>
                </a:solidFill>
                <a:latin typeface="Microsoft YaHei"/>
              </a:rPr>
              <a:t>输出更稳定的 Top1 / TopK 结果。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80360" y="3246120"/>
            <a:ext cx="777240" cy="0"/>
          </a:xfrm>
          <a:prstGeom prst="line">
            <a:avLst/>
          </a:prstGeom>
          <a:ln w="381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52160" y="3246120"/>
            <a:ext cx="868680" cy="0"/>
          </a:xfrm>
          <a:prstGeom prst="line">
            <a:avLst/>
          </a:prstGeom>
          <a:ln w="381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15400" y="3246120"/>
            <a:ext cx="548640" cy="0"/>
          </a:xfrm>
          <a:prstGeom prst="line">
            <a:avLst/>
          </a:prstGeom>
          <a:ln w="381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5029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1E3"/>
                </a:solidFill>
                <a:latin typeface="Microsoft YaHei"/>
              </a:rPr>
              <a:t>优化核心不是盲目重训模型，而是结合问题特征改造推理链路，提升真实场景下的识别鲁棒性。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优化效果对比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抗阴影双路融合将应用侧复核准确率从 87.5% 提升到 93.75%，并显著改善弱项类别表现。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29384"/>
            <a:ext cx="15636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基础推理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94560"/>
            <a:ext cx="15636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71E3"/>
                </a:solidFill>
                <a:latin typeface="Microsoft YaHei"/>
              </a:rPr>
              <a:t>87.5%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78308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929384"/>
            <a:ext cx="15636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73"/>
                </a:solidFill>
                <a:latin typeface="Microsoft YaHei"/>
              </a:rPr>
              <a:t>优化后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194560"/>
            <a:ext cx="15636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C759"/>
                </a:solidFill>
                <a:latin typeface="Microsoft YaHei"/>
              </a:rPr>
              <a:t>93.75%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783080"/>
            <a:ext cx="1828800" cy="109728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202996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71E3"/>
                </a:solidFill>
                <a:latin typeface="Microsoft YaHei"/>
              </a:rPr>
              <a:t>30 / 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783080"/>
            <a:ext cx="4069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011680"/>
            <a:ext cx="3611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Microsoft YaHei"/>
              </a:rPr>
              <a:t>1x4、2x2、2x3、2x4 在优化后都达到 100% 类别准确率。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10652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1005840" y="3401568"/>
          <a:ext cx="10058400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ectangle 19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926080" cy="292608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560320" cy="25603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1E3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Microsoft YaHe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1D1F"/>
                </a:solidFill>
                <a:latin typeface="Microsoft YaHei"/>
              </a:rPr>
              <a:t>项目成果总结与后续展望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Microsoft YaHei"/>
              </a:rPr>
              <a:t>课程要求中的核心链路已经完成，当前成果具备训练、部署和课堂展示能力。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400">
                <a:solidFill>
                  <a:srgbClr val="1D1D1F"/>
                </a:solidFill>
                <a:latin typeface="Microsoft YaHei"/>
              </a:rPr>
              <a:t>完成 7 类 Brick 数据整理、样本补充与训练划分。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1D1F"/>
                </a:solidFill>
                <a:latin typeface="Microsoft YaHei"/>
              </a:rPr>
              <a:t>完成 4 层 baseline CNN 训练、对比实验与最佳权重复核。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1D1F"/>
                </a:solidFill>
                <a:latin typeface="Microsoft YaHei"/>
              </a:rPr>
              <a:t>完成 Streamlit 多页面应用、拍照识别、Plotly 概率图和 CSS 美化。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1D1F"/>
                </a:solidFill>
                <a:latin typeface="Microsoft YaHei"/>
              </a:rPr>
              <a:t>完成针对实拍阴影问题的推理链路优化，准确率提升到 93.75%。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84831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Microsoft YaHei"/>
              </a:rPr>
              <a:t>本次已完成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257800" cy="3474720"/>
          </a:xfrm>
          <a:prstGeom prst="roundRect">
            <a:avLst/>
          </a:prstGeom>
          <a:solidFill>
            <a:srgbClr val="E9F4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400">
                <a:solidFill>
                  <a:srgbClr val="1D1D1F"/>
                </a:solidFill>
                <a:latin typeface="Microsoft YaHei"/>
              </a:rPr>
              <a:t>补充更规范的 Plate 类数据，继续推进 Brick + Plate 联合模型训练。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1D1F"/>
                </a:solidFill>
                <a:latin typeface="Microsoft YaHei"/>
              </a:rPr>
              <a:t>扩大实拍数据规模，进一步验证多角度、多背景下的稳定性。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1D1F"/>
                </a:solidFill>
                <a:latin typeface="Microsoft YaHei"/>
              </a:rPr>
              <a:t>继续打磨摄像头交互、移动端体验与批量识别等扩展功能。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84831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71E3"/>
                </a:solidFill>
                <a:latin typeface="Microsoft YaHei"/>
              </a:rPr>
              <a:t>后续可继续完善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Microsoft YaHei"/>
              </a:rPr>
              <a:t>结论：项目已形成“数据准备 -&gt; 模型训练 -&gt; 应用实现 -&gt; 鲁棒性优化”的完整课程成果，可直接用于结课展示。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00800"/>
            <a:ext cx="10927080" cy="18288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73"/>
                </a:solidFill>
                <a:latin typeface="Microsoft YaHei"/>
              </a:rPr>
              <a:t>人工智能应用实践 | 乐高积木图像识别项目成果展示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7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